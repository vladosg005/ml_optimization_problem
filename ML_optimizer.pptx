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png" ContentType="image/png"/>
  <Override PartName="/ppt/media/image1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9AD7D0F-9BC9-4EE6-A460-34647589075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235096-A831-404C-BB06-609CEBDE135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7E7E9D-85D7-440C-9661-ECF15CD10E6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141F63-2CC7-458A-A607-C19C4D18FD9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829043-2117-47CC-B1DE-181208339A1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17E523-0C2F-4B74-8F0E-FFFF9DD3F5C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79D98B-6B4A-4FD2-9365-2E0AF3EBD39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A74435-E358-4465-87F2-E04EC7D622F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B58430-AE92-4D84-9C86-79690E51B24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AF9C8D-6402-443B-8336-DF208943EFB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D86961-921D-4C9A-BB4B-1C14CF86966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4B7349-C9D5-400B-BBFD-42A04DE1A1F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0583FF-DB8A-4607-B395-58875D13B2F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F6C6DB-33ED-4EBA-8239-6CA270C7EE2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7C45FF-DC3F-4BAD-B390-DC52CB03BBF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616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616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616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616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6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6034320" cy="8228880"/>
          </a:xfrm>
          <a:prstGeom prst="rect">
            <a:avLst/>
          </a:prstGeom>
          <a:ln w="0">
            <a:noFill/>
          </a:ln>
        </p:spPr>
      </p:pic>
      <p:sp>
        <p:nvSpPr>
          <p:cNvPr id="28" name="Заголовок 1"/>
          <p:cNvSpPr/>
          <p:nvPr/>
        </p:nvSpPr>
        <p:spPr>
          <a:xfrm>
            <a:off x="5706000" y="2654640"/>
            <a:ext cx="8923680" cy="23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5400" spc="-1" strike="noStrike">
                <a:solidFill>
                  <a:srgbClr val="dddddd"/>
                </a:solidFill>
                <a:latin typeface="Calibri Light"/>
              </a:rPr>
              <a:t>Оптимизация инференса </a:t>
            </a:r>
            <a:r>
              <a:rPr b="0" lang="en-US" sz="5400" spc="-1" strike="noStrike">
                <a:solidFill>
                  <a:srgbClr val="dddddd"/>
                </a:solidFill>
                <a:latin typeface="Calibri Light"/>
              </a:rPr>
              <a:t>ML- </a:t>
            </a:r>
            <a:r>
              <a:rPr b="0" lang="ru-RU" sz="5400" spc="-1" strike="noStrike">
                <a:solidFill>
                  <a:srgbClr val="dddddd"/>
                </a:solidFill>
                <a:latin typeface="Calibri Light"/>
              </a:rPr>
              <a:t>модели.</a:t>
            </a:r>
            <a:endParaRPr b="0" lang="ru-RU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Подзаголовок 2"/>
          <p:cNvSpPr/>
          <p:nvPr/>
        </p:nvSpPr>
        <p:spPr>
          <a:xfrm>
            <a:off x="10536840" y="7282440"/>
            <a:ext cx="4089240" cy="9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rgbClr val="dddddd"/>
                </a:solidFill>
                <a:latin typeface="Calibri"/>
              </a:rPr>
              <a:t>Выполнили: Гапонов, Ефремов, Шомников, Корбан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29680" cy="8228880"/>
          </a:xfrm>
          <a:prstGeom prst="rect">
            <a:avLst/>
          </a:prstGeom>
          <a:ln w="0">
            <a:noFill/>
          </a:ln>
        </p:spPr>
      </p:pic>
      <p:sp>
        <p:nvSpPr>
          <p:cNvPr id="31" name="Прямоугольник 16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5488920" y="74160"/>
            <a:ext cx="3119760" cy="1259280"/>
          </a:xfrm>
          <a:prstGeom prst="roundRect">
            <a:avLst>
              <a:gd name="adj" fmla="val 3362"/>
            </a:avLst>
          </a:prstGeom>
          <a:solidFill>
            <a:srgbClr val="404040">
              <a:alpha val="79000"/>
            </a:srgbClr>
          </a:solidFill>
          <a:ln w="76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Заголовок 1"/>
          <p:cNvSpPr/>
          <p:nvPr/>
        </p:nvSpPr>
        <p:spPr>
          <a:xfrm>
            <a:off x="5488920" y="285480"/>
            <a:ext cx="3119760" cy="9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4400" spc="-1" strike="noStrike">
                <a:solidFill>
                  <a:schemeClr val="lt1"/>
                </a:solidFill>
                <a:latin typeface="Calibri Light"/>
              </a:rPr>
              <a:t>Проблема: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365040" y="1545840"/>
            <a:ext cx="13683960" cy="6114960"/>
          </a:xfrm>
          <a:prstGeom prst="roundRect">
            <a:avLst>
              <a:gd name="adj" fmla="val 3362"/>
            </a:avLst>
          </a:prstGeom>
          <a:solidFill>
            <a:srgbClr val="404040">
              <a:alpha val="85000"/>
            </a:srgbClr>
          </a:solidFill>
          <a:ln w="76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chemeClr val="lt1"/>
                </a:solidFill>
                <a:latin typeface="Calibri"/>
              </a:rPr>
              <a:t>Стандартные реализации ML-моделей на Python часто не оптимизированы для продакшн-среды. Они страдают от: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lt1"/>
                </a:solidFill>
                <a:latin typeface="Calibri"/>
              </a:rPr>
              <a:t>Высокой задержки из-за накладных расходов интерпретатора Python и неоптимального построения вычислительного графа.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lt1"/>
                </a:solidFill>
                <a:latin typeface="Calibri"/>
              </a:rPr>
              <a:t>Избыточного потребления оперативной или видеопамяти (RAM/VRAM), что увеличивает стоимость инфраструктуры.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lt1"/>
                </a:solidFill>
                <a:latin typeface="Calibri"/>
              </a:rPr>
              <a:t>Отсутствия аппаратно-специфичных оптимизаций (например, использование тензорных ядер GPU или инструкций AVX-512 на CPU).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chemeClr val="lt1"/>
                </a:solidFill>
                <a:latin typeface="Calibri"/>
              </a:rPr>
              <a:t>Это приводит к невозможности обработки запросов в реальном времени, росту затрат на серверы и ухудшению пользовательского опыта.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14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" name="Объект 2"/>
          <p:cNvSpPr/>
          <p:nvPr/>
        </p:nvSpPr>
        <p:spPr>
          <a:xfrm>
            <a:off x="1315800" y="2481480"/>
            <a:ext cx="11998080" cy="26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ru-RU" sz="3200" spc="-1" strike="noStrike">
                <a:solidFill>
                  <a:srgbClr val="dddddd"/>
                </a:solidFill>
                <a:latin typeface="Calibri"/>
              </a:rPr>
              <a:t>Цель: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Создание оптимизированной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ML-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модели.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ru-RU" sz="3200" spc="-1" strike="noStrike">
                <a:solidFill>
                  <a:srgbClr val="dddddd"/>
                </a:solidFill>
                <a:latin typeface="Calibri"/>
              </a:rPr>
              <a:t>Ожидаемый результат: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Работающий скрипт, который принимает запрос и возвращает результаты оптимизации.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14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" name="Объект 2"/>
          <p:cNvSpPr/>
          <p:nvPr/>
        </p:nvSpPr>
        <p:spPr>
          <a:xfrm>
            <a:off x="1347840" y="2032560"/>
            <a:ext cx="11934360" cy="48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dddddd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Изучить архитектуру исходной модели и замерить исходные метрики.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dddddd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Проанализировать и выбрать подходящие форматы и инструменты.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dddddd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Реализовать скрипты для перевода модели из исходного Python-кода в выбранные оптимизированные форматы, настроив параметры компиляции.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dddddd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Провести тестирование оптимизированных версий. Зафиксировать метрики.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2"/>
          <p:cNvSpPr/>
          <p:nvPr/>
        </p:nvSpPr>
        <p:spPr>
          <a:xfrm>
            <a:off x="5916960" y="573120"/>
            <a:ext cx="2795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4400" spc="-1" strike="noStrike">
                <a:solidFill>
                  <a:srgbClr val="dddddd"/>
                </a:solidFill>
                <a:latin typeface="Calibri"/>
              </a:rPr>
              <a:t>Задача:</a:t>
            </a:r>
            <a:r>
              <a:rPr b="0" lang="ru-RU" sz="4400" spc="-1" strike="noStrike">
                <a:solidFill>
                  <a:srgbClr val="dddddd"/>
                </a:solidFill>
                <a:latin typeface="Calibri"/>
              </a:rPr>
              <a:t>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" name="Заголовок 1"/>
          <p:cNvSpPr/>
          <p:nvPr/>
        </p:nvSpPr>
        <p:spPr>
          <a:xfrm>
            <a:off x="2057400" y="20556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rgbClr val="dddddd"/>
                </a:solidFill>
                <a:latin typeface="Calibri Light"/>
              </a:rPr>
              <a:t>Конкуренты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2" name="Таблица 66"/>
          <p:cNvGraphicFramePr/>
          <p:nvPr/>
        </p:nvGraphicFramePr>
        <p:xfrm>
          <a:off x="653760" y="1168200"/>
          <a:ext cx="13321440" cy="4507920"/>
        </p:xfrm>
        <a:graphic>
          <a:graphicData uri="http://schemas.openxmlformats.org/drawingml/2006/table">
            <a:tbl>
              <a:tblPr/>
              <a:tblGrid>
                <a:gridCol w="2280600"/>
                <a:gridCol w="1488240"/>
                <a:gridCol w="2349720"/>
                <a:gridCol w="2200680"/>
                <a:gridCol w="5002560"/>
              </a:tblGrid>
              <a:tr h="149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Инструмент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Разработчик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Что делает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Плюсы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Минусы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5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NVIDIA Triton Model Analyzer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NVIDIA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Автоматически подбирает конфигурацию (batch size, instance count) для максимального throughput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Максимальный throughput на GPU, автоматизация тюнинга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Только NVIDIA GPU</a:t>
                      </a: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 (нет поддержки CPU/AMD)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Требует Triton Server</a:t>
                      </a: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 (сложная инфраструктура)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Ресурсоёмкий процесс анализа ❌Иностранный продукт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Intel Neural Compressor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2202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Intel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2202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Автоматическое квантование и бенчмарк для CPU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2202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Лучшая оптимизация под Intel CPU, авто-квантование (INT8)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2202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Vendor Lock-in (Intel)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Слабая поддержка </a:t>
                      </a: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GPU</a:t>
                      </a:r>
                      <a:r>
                        <a:rPr b="0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(NVIDIA/AMD)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Требует калибровочный датасет для квантования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❌Иностранный продукт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22020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MLPerf Inference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MLCommons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Отраслевой стандарт бенчмарков (сравнение железа и софта)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Объективное сравнение, мировой стандарт, доверие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solidFill>
                        <a:srgbClr val="a6a6a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Не оптимизирует модель</a:t>
                      </a: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 (только измеряет)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</a:t>
                      </a: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Жесткие сценарии</a:t>
                      </a: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 (могут не совпадать с реальностью)</a:t>
                      </a:r>
                      <a:br>
                        <a:rPr sz="1800"/>
                      </a:b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 Высокий порог входа для корректного запуска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❌</a:t>
                      </a:r>
                      <a:r>
                        <a:rPr b="0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Иностранный продукт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a6a6a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f3d3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8625600" y="0"/>
            <a:ext cx="6014520" cy="8201880"/>
          </a:xfrm>
          <a:prstGeom prst="rect">
            <a:avLst/>
          </a:prstGeom>
          <a:ln w="0">
            <a:noFill/>
          </a:ln>
        </p:spPr>
      </p:pic>
      <p:sp>
        <p:nvSpPr>
          <p:cNvPr id="44" name="Заголовок 1"/>
          <p:cNvSpPr/>
          <p:nvPr/>
        </p:nvSpPr>
        <p:spPr>
          <a:xfrm>
            <a:off x="372240" y="332640"/>
            <a:ext cx="868140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rgbClr val="dddddd"/>
                </a:solidFill>
                <a:latin typeface="Calibri Light"/>
              </a:rPr>
              <a:t>Сравнение с конкурентами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270720" y="1721880"/>
            <a:ext cx="3982680" cy="2445480"/>
          </a:xfrm>
          <a:prstGeom prst="roundRect">
            <a:avLst>
              <a:gd name="adj" fmla="val 3362"/>
            </a:avLst>
          </a:prstGeom>
          <a:solidFill>
            <a:srgbClr val="404040"/>
          </a:solidFill>
          <a:ln w="76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74120" y="1925280"/>
            <a:ext cx="586800" cy="586800"/>
          </a:xfrm>
          <a:prstGeom prst="roundRect">
            <a:avLst>
              <a:gd name="adj" fmla="val 1556391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0" descr="preencoded.png"/>
          <p:cNvPicPr/>
          <p:nvPr/>
        </p:nvPicPr>
        <p:blipFill>
          <a:blip r:embed="rId2"/>
          <a:stretch/>
        </p:blipFill>
        <p:spPr>
          <a:xfrm>
            <a:off x="635400" y="2086560"/>
            <a:ext cx="263520" cy="263520"/>
          </a:xfrm>
          <a:prstGeom prst="rect">
            <a:avLst/>
          </a:prstGeom>
          <a:ln w="0">
            <a:noFill/>
          </a:ln>
        </p:spPr>
      </p:pic>
      <p:sp>
        <p:nvSpPr>
          <p:cNvPr id="48" name="Text 8"/>
          <p:cNvSpPr/>
          <p:nvPr/>
        </p:nvSpPr>
        <p:spPr>
          <a:xfrm>
            <a:off x="474120" y="2681640"/>
            <a:ext cx="24469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a Sans Semi Bold"/>
                <a:ea typeface="Mona Sans Semi Bold"/>
              </a:rPr>
              <a:t>Скорость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474120" y="3088800"/>
            <a:ext cx="360648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unnel Sans"/>
                <a:ea typeface="Funnel Sans"/>
              </a:rPr>
              <a:t>Максимальная производительность для критичных к задержке приложений.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270720" y="4371480"/>
            <a:ext cx="8127720" cy="2096640"/>
          </a:xfrm>
          <a:prstGeom prst="roundRect">
            <a:avLst>
              <a:gd name="adj" fmla="val 3362"/>
            </a:avLst>
          </a:prstGeom>
          <a:solidFill>
            <a:srgbClr val="404040"/>
          </a:solidFill>
          <a:ln w="76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474120" y="4574880"/>
            <a:ext cx="586800" cy="586800"/>
          </a:xfrm>
          <a:prstGeom prst="roundRect">
            <a:avLst>
              <a:gd name="adj" fmla="val 1556391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3"/>
          <a:stretch/>
        </p:blipFill>
        <p:spPr>
          <a:xfrm>
            <a:off x="635760" y="4736160"/>
            <a:ext cx="263520" cy="263520"/>
          </a:xfrm>
          <a:prstGeom prst="rect">
            <a:avLst/>
          </a:prstGeom>
          <a:ln w="0">
            <a:noFill/>
          </a:ln>
        </p:spPr>
      </p:pic>
      <p:sp>
        <p:nvSpPr>
          <p:cNvPr id="53" name="Text 12"/>
          <p:cNvSpPr/>
          <p:nvPr/>
        </p:nvSpPr>
        <p:spPr>
          <a:xfrm>
            <a:off x="474120" y="5331240"/>
            <a:ext cx="24469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a Sans Semi Bold"/>
                <a:ea typeface="Mona Sans Semi Bold"/>
              </a:rPr>
              <a:t>Гибкость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474120" y="5738400"/>
            <a:ext cx="73602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unnel Sans"/>
                <a:ea typeface="Funnel Sans"/>
              </a:rPr>
              <a:t>Развертывание на любом устройстве и ОС, независимо от исходного фреймворка.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4415760" y="1732680"/>
            <a:ext cx="3982680" cy="2445480"/>
          </a:xfrm>
          <a:prstGeom prst="roundRect">
            <a:avLst>
              <a:gd name="adj" fmla="val 3362"/>
            </a:avLst>
          </a:prstGeom>
          <a:solidFill>
            <a:srgbClr val="404040"/>
          </a:solidFill>
          <a:ln w="76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4619160" y="1936080"/>
            <a:ext cx="586800" cy="586800"/>
          </a:xfrm>
          <a:prstGeom prst="roundRect">
            <a:avLst>
              <a:gd name="adj" fmla="val 1556391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2" descr="preencoded.png"/>
          <p:cNvPicPr/>
          <p:nvPr/>
        </p:nvPicPr>
        <p:blipFill>
          <a:blip r:embed="rId4"/>
          <a:stretch/>
        </p:blipFill>
        <p:spPr>
          <a:xfrm>
            <a:off x="4780440" y="2097720"/>
            <a:ext cx="263520" cy="263520"/>
          </a:xfrm>
          <a:prstGeom prst="rect">
            <a:avLst/>
          </a:prstGeom>
          <a:ln w="0">
            <a:noFill/>
          </a:ln>
        </p:spPr>
      </p:pic>
      <p:sp>
        <p:nvSpPr>
          <p:cNvPr id="58" name="Text 16"/>
          <p:cNvSpPr/>
          <p:nvPr/>
        </p:nvSpPr>
        <p:spPr>
          <a:xfrm>
            <a:off x="4619160" y="2692440"/>
            <a:ext cx="244692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Mona Sans Semi Bold"/>
                <a:ea typeface="Mona Sans Semi Bold"/>
              </a:rPr>
              <a:t>Эффективность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4619160" y="3099960"/>
            <a:ext cx="360648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Funnel Sans"/>
                <a:ea typeface="Funnel Sans"/>
              </a:rPr>
              <a:t>Использование всех доступных оптимизаций оборудования.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Заголовок 1"/>
          <p:cNvSpPr/>
          <p:nvPr/>
        </p:nvSpPr>
        <p:spPr>
          <a:xfrm>
            <a:off x="5635080" y="365400"/>
            <a:ext cx="8718120" cy="11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rgbClr val="dddddd"/>
                </a:solidFill>
                <a:latin typeface="Calibri Light"/>
              </a:rPr>
              <a:t>Целевая аудитория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985440" y="3119400"/>
            <a:ext cx="6017400" cy="30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000" spc="-1" strike="noStrike">
                <a:solidFill>
                  <a:srgbClr val="dddddd"/>
                </a:solidFill>
                <a:latin typeface="Calibri"/>
              </a:rPr>
              <a:t>Исследователи данных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dddddd"/>
                </a:solidFill>
                <a:latin typeface="Calibri"/>
              </a:rPr>
              <a:t>Backend-</a:t>
            </a:r>
            <a:r>
              <a:rPr b="0" lang="ru-RU" sz="4000" spc="-1" strike="noStrike">
                <a:solidFill>
                  <a:srgbClr val="dddddd"/>
                </a:solidFill>
                <a:latin typeface="Calibri"/>
              </a:rPr>
              <a:t>разработчики и Системные архитекторы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000" spc="-1" strike="noStrike">
                <a:solidFill>
                  <a:srgbClr val="dddddd"/>
                </a:solidFill>
                <a:latin typeface="Calibri"/>
              </a:rPr>
              <a:t>Менеджмент и Бизнес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6034320" cy="822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5" name="Рисунок 3" descr=""/>
          <p:cNvPicPr/>
          <p:nvPr/>
        </p:nvPicPr>
        <p:blipFill>
          <a:blip r:embed="rId1"/>
          <a:stretch/>
        </p:blipFill>
        <p:spPr>
          <a:xfrm>
            <a:off x="0" y="0"/>
            <a:ext cx="6171480" cy="8228880"/>
          </a:xfrm>
          <a:prstGeom prst="rect">
            <a:avLst/>
          </a:prstGeom>
          <a:ln w="0">
            <a:noFill/>
          </a:ln>
        </p:spPr>
      </p:pic>
      <p:sp>
        <p:nvSpPr>
          <p:cNvPr id="66" name="TextBox 2"/>
          <p:cNvSpPr/>
          <p:nvPr/>
        </p:nvSpPr>
        <p:spPr>
          <a:xfrm>
            <a:off x="6832440" y="3859920"/>
            <a:ext cx="7419600" cy="24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85800" indent="-6858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структурирование работы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685800" indent="-6858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написание бенчмарка 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685800" indent="-6858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интеграция в CI/CD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Заголовок 1"/>
          <p:cNvSpPr/>
          <p:nvPr/>
        </p:nvSpPr>
        <p:spPr>
          <a:xfrm>
            <a:off x="7179120" y="383760"/>
            <a:ext cx="6726240" cy="20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5000" spc="-1" strike="noStrike">
                <a:solidFill>
                  <a:srgbClr val="dddddd"/>
                </a:solidFill>
                <a:latin typeface="Calibri Light"/>
              </a:rPr>
              <a:t>Гапонов Владислав </a:t>
            </a:r>
            <a:r>
              <a:rPr b="0" lang="ru-RU" sz="5000" spc="-1" strike="noStrike">
                <a:solidFill>
                  <a:srgbClr val="dddddd"/>
                </a:solidFill>
                <a:latin typeface="Calibri Light"/>
              </a:rPr>
              <a:t>– старший разработчик, лидер проекта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" name="Рисунок 3" descr=""/>
          <p:cNvPicPr/>
          <p:nvPr/>
        </p:nvPicPr>
        <p:blipFill>
          <a:blip r:embed="rId1"/>
          <a:stretch/>
        </p:blipFill>
        <p:spPr>
          <a:xfrm>
            <a:off x="12240" y="0"/>
            <a:ext cx="6459480" cy="8228880"/>
          </a:xfrm>
          <a:prstGeom prst="rect">
            <a:avLst/>
          </a:prstGeom>
          <a:ln w="0">
            <a:noFill/>
          </a:ln>
        </p:spPr>
      </p:pic>
      <p:sp>
        <p:nvSpPr>
          <p:cNvPr id="70" name="TextBox 2"/>
          <p:cNvSpPr/>
          <p:nvPr/>
        </p:nvSpPr>
        <p:spPr>
          <a:xfrm>
            <a:off x="7622640" y="3681000"/>
            <a:ext cx="625860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1680" indent="-57168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конвертация моделей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571680" indent="-57168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проверка точности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Заголовок 1"/>
          <p:cNvSpPr/>
          <p:nvPr/>
        </p:nvSpPr>
        <p:spPr>
          <a:xfrm>
            <a:off x="7326000" y="488520"/>
            <a:ext cx="6851880" cy="15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5000" spc="-1" strike="noStrike">
                <a:solidFill>
                  <a:srgbClr val="dddddd"/>
                </a:solidFill>
                <a:latin typeface="Calibri Light"/>
              </a:rPr>
              <a:t>Шомников Максим </a:t>
            </a:r>
            <a:r>
              <a:rPr b="0" lang="ru-RU" sz="5000" spc="-1" strike="noStrike">
                <a:solidFill>
                  <a:srgbClr val="dddddd"/>
                </a:solidFill>
                <a:latin typeface="Calibri Light"/>
              </a:rPr>
              <a:t>– разработчик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Рисунок 5" descr=""/>
          <p:cNvPicPr/>
          <p:nvPr/>
        </p:nvPicPr>
        <p:blipFill>
          <a:blip r:embed="rId1"/>
          <a:stretch/>
        </p:blipFill>
        <p:spPr>
          <a:xfrm>
            <a:off x="0" y="0"/>
            <a:ext cx="6171480" cy="8228880"/>
          </a:xfrm>
          <a:prstGeom prst="rect">
            <a:avLst/>
          </a:prstGeom>
          <a:ln w="0">
            <a:noFill/>
          </a:ln>
        </p:spPr>
      </p:pic>
      <p:sp>
        <p:nvSpPr>
          <p:cNvPr id="74" name="TextBox 2"/>
          <p:cNvSpPr/>
          <p:nvPr/>
        </p:nvSpPr>
        <p:spPr>
          <a:xfrm>
            <a:off x="6519240" y="3553560"/>
            <a:ext cx="7654680" cy="31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сбор данных 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разрабатывает презентацию 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dddddd"/>
              </a:buClr>
              <a:buFont typeface="Arial"/>
              <a:buChar char="•"/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демонстрирует полученные результаты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Заголовок 1"/>
          <p:cNvSpPr/>
          <p:nvPr/>
        </p:nvSpPr>
        <p:spPr>
          <a:xfrm>
            <a:off x="6248520" y="118080"/>
            <a:ext cx="8196120" cy="22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5000" spc="-1" strike="noStrike">
                <a:solidFill>
                  <a:srgbClr val="dddddd"/>
                </a:solidFill>
                <a:latin typeface="Calibri Light"/>
              </a:rPr>
              <a:t>Ефремов Данила </a:t>
            </a:r>
            <a:r>
              <a:rPr b="0" lang="ru-RU" sz="5000" spc="-1" strike="noStrike">
                <a:solidFill>
                  <a:srgbClr val="dddddd"/>
                </a:solidFill>
                <a:latin typeface="Calibri Light"/>
              </a:rPr>
              <a:t>– 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4800" spc="-1" strike="noStrike">
                <a:solidFill>
                  <a:srgbClr val="dddddd"/>
                </a:solidFill>
                <a:latin typeface="Calibri Light"/>
              </a:rPr>
              <a:t>организатор презентационной деятельности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7" name="Рисунок 3" descr=""/>
          <p:cNvPicPr/>
          <p:nvPr/>
        </p:nvPicPr>
        <p:blipFill>
          <a:blip r:embed="rId1"/>
          <a:stretch/>
        </p:blipFill>
        <p:spPr>
          <a:xfrm>
            <a:off x="0" y="0"/>
            <a:ext cx="5785560" cy="8228880"/>
          </a:xfrm>
          <a:prstGeom prst="rect">
            <a:avLst/>
          </a:prstGeom>
          <a:ln w="0">
            <a:noFill/>
          </a:ln>
        </p:spPr>
      </p:pic>
      <p:sp>
        <p:nvSpPr>
          <p:cNvPr id="78" name="TextBox 2"/>
          <p:cNvSpPr/>
          <p:nvPr/>
        </p:nvSpPr>
        <p:spPr>
          <a:xfrm>
            <a:off x="6606720" y="3865680"/>
            <a:ext cx="7040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    </a:t>
            </a:r>
            <a:r>
              <a:rPr b="0" lang="ru-RU" sz="4200" spc="-1" strike="noStrike">
                <a:solidFill>
                  <a:srgbClr val="dddddd"/>
                </a:solidFill>
                <a:latin typeface="Calibri"/>
              </a:rPr>
              <a:t>Помогает в подготовке и представлении продукта.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Заголовок 1"/>
          <p:cNvSpPr/>
          <p:nvPr/>
        </p:nvSpPr>
        <p:spPr>
          <a:xfrm>
            <a:off x="6081840" y="148680"/>
            <a:ext cx="809064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ru-RU" sz="5000" spc="-1" strike="noStrike">
                <a:solidFill>
                  <a:srgbClr val="dddddd"/>
                </a:solidFill>
                <a:latin typeface="Calibri Light"/>
              </a:rPr>
              <a:t>Корбан Владислав </a:t>
            </a:r>
            <a:r>
              <a:rPr b="0" lang="ru-RU" sz="5000" spc="-1" strike="noStrike">
                <a:solidFill>
                  <a:srgbClr val="dddddd"/>
                </a:solidFill>
                <a:latin typeface="Calibri Light"/>
              </a:rPr>
              <a:t>– 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5000" spc="-1" strike="noStrike">
                <a:solidFill>
                  <a:srgbClr val="dddddd"/>
                </a:solidFill>
                <a:latin typeface="Calibri Light"/>
              </a:rPr>
              <a:t>презентационный ассистент</a:t>
            </a:r>
            <a:endParaRPr b="0" lang="ru-RU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1" name="Рисунок 3" descr=""/>
          <p:cNvPicPr/>
          <p:nvPr/>
        </p:nvPicPr>
        <p:blipFill>
          <a:blip r:embed="rId1"/>
          <a:srcRect l="510" t="9690" r="0" b="8010"/>
          <a:stretch/>
        </p:blipFill>
        <p:spPr>
          <a:xfrm>
            <a:off x="819720" y="451800"/>
            <a:ext cx="12989880" cy="6044040"/>
          </a:xfrm>
          <a:prstGeom prst="rect">
            <a:avLst/>
          </a:prstGeom>
          <a:ln w="0">
            <a:noFill/>
          </a:ln>
        </p:spPr>
      </p:pic>
      <p:sp>
        <p:nvSpPr>
          <p:cNvPr id="82" name="TextBox 4"/>
          <p:cNvSpPr/>
          <p:nvPr/>
        </p:nvSpPr>
        <p:spPr>
          <a:xfrm>
            <a:off x="3379680" y="6804720"/>
            <a:ext cx="7869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Координация работы ведётся через </a:t>
            </a:r>
            <a:r>
              <a:rPr b="1" lang="en-US" sz="3200" spc="-1" strike="noStrike">
                <a:solidFill>
                  <a:srgbClr val="dddddd"/>
                </a:solidFill>
                <a:latin typeface="Calibri"/>
              </a:rPr>
              <a:t>Kanban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Прямоугольник 16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Заголовок 1"/>
          <p:cNvSpPr/>
          <p:nvPr/>
        </p:nvSpPr>
        <p:spPr>
          <a:xfrm>
            <a:off x="6644520" y="320040"/>
            <a:ext cx="721476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rgbClr val="dddddd"/>
                </a:solidFill>
                <a:latin typeface="Calibri Light"/>
              </a:rPr>
              <a:t>Деплой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1"/>
          <p:cNvSpPr/>
          <p:nvPr/>
        </p:nvSpPr>
        <p:spPr>
          <a:xfrm>
            <a:off x="7049520" y="3223800"/>
            <a:ext cx="6923880" cy="25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Настройка кода происходит при помощи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 huggingface/hub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-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sync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от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Alina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и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Lucain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в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Github Actions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. Код по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uvx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отправляется в папку в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space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, где всё работает в контейнере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Docker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6034320" cy="822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Прямоугольник 7"/>
          <p:cNvSpPr/>
          <p:nvPr/>
        </p:nvSpPr>
        <p:spPr>
          <a:xfrm>
            <a:off x="12248640" y="7389720"/>
            <a:ext cx="2381040" cy="839160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Заголовок 1"/>
          <p:cNvSpPr/>
          <p:nvPr/>
        </p:nvSpPr>
        <p:spPr>
          <a:xfrm>
            <a:off x="205740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4400" spc="-1" strike="noStrike">
                <a:solidFill>
                  <a:srgbClr val="dddddd"/>
                </a:solidFill>
                <a:latin typeface="Calibri Light"/>
              </a:rPr>
              <a:t>Конвертация и Техническая реализация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1297080" y="2545200"/>
            <a:ext cx="477324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  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Для разработки своего продукта мы используем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Streamlit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8144640" y="4934520"/>
            <a:ext cx="5106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    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А конвертируется при помощи модулей на </a:t>
            </a:r>
            <a:r>
              <a:rPr b="0" lang="en-US" sz="3200" spc="-1" strike="noStrike">
                <a:solidFill>
                  <a:srgbClr val="dddddd"/>
                </a:solidFill>
                <a:latin typeface="Calibri"/>
              </a:rPr>
              <a:t>Python</a:t>
            </a:r>
            <a:r>
              <a:rPr b="0" lang="ru-RU" sz="3200" spc="-1" strike="noStrike">
                <a:solidFill>
                  <a:srgbClr val="dddddd"/>
                </a:solidFill>
                <a:latin typeface="Calibri"/>
              </a:rPr>
              <a:t>.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Application>LibreOffice/7.6.5.2$Windows_X86_64 LibreOffice_project/38d5f62f85355c192ef5f1dd47c5c0c0c6d6598b</Application>
  <AppVersion>15.0000</AppVersion>
  <Words>492</Words>
  <Paragraphs>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2026-03-26T21:59:55Z</dcterms:created>
  <dc:creator/>
  <dc:description/>
  <dc:language>ru-RU</dc:language>
  <cp:lastModifiedBy/>
  <dcterms:modified xsi:type="dcterms:W3CDTF">2026-06-05T10:39:33Z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